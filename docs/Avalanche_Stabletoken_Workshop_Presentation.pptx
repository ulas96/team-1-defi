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1" d="100"/>
          <a:sy n="171" d="100"/>
        </p:scale>
        <p:origin x="4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97206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3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6.png"/><Relationship Id="rId4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18.png"/><Relationship Id="rId10" Type="http://schemas.openxmlformats.org/officeDocument/2006/relationships/image" Target="../media/image15.png"/><Relationship Id="rId4" Type="http://schemas.openxmlformats.org/officeDocument/2006/relationships/image" Target="../media/image2.jpeg"/><Relationship Id="rId9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2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4142"/>
          </a:solidFill>
          <a:ln/>
        </p:spPr>
        <p:txBody>
          <a:bodyPr/>
          <a:lstStyle/>
          <a:p>
            <a:endParaRPr lang="en-T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051560"/>
            <a:ext cx="2194560" cy="2194560"/>
          </a:xfrm>
          <a:prstGeom prst="ellipse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005840"/>
            <a:ext cx="5486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Coding AVAX Backed </a:t>
            </a:r>
            <a:r>
              <a:rPr lang="en-US" sz="48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Stabletoken</a:t>
            </a:r>
            <a:endParaRPr lang="en-US" sz="4600" dirty="0"/>
          </a:p>
        </p:txBody>
      </p:sp>
      <p:sp>
        <p:nvSpPr>
          <p:cNvPr id="5" name="Shape 2"/>
          <p:cNvSpPr/>
          <p:nvPr/>
        </p:nvSpPr>
        <p:spPr>
          <a:xfrm>
            <a:off x="822960" y="3200400"/>
            <a:ext cx="2286000" cy="32004"/>
          </a:xfrm>
          <a:prstGeom prst="rect">
            <a:avLst/>
          </a:prstGeom>
          <a:solidFill>
            <a:srgbClr val="E84142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7" name="Text 4"/>
          <p:cNvSpPr/>
          <p:nvPr/>
        </p:nvSpPr>
        <p:spPr>
          <a:xfrm>
            <a:off x="874999" y="3596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Ulaş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"/>
          </a:xfrm>
          <a:prstGeom prst="rect">
            <a:avLst/>
          </a:prstGeom>
          <a:solidFill>
            <a:srgbClr val="E84142">
              <a:alpha val="60000"/>
            </a:srgbClr>
          </a:solidFill>
          <a:ln/>
        </p:spPr>
        <p:txBody>
          <a:bodyPr/>
          <a:lstStyle/>
          <a:p>
            <a:endParaRPr lang="en-T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64592"/>
            <a:ext cx="457200" cy="457200"/>
          </a:xfrm>
          <a:prstGeom prst="ellipse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2860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Avalanche?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731520" y="86868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high-performance, scalable blockchain platform for decentralized applications and custom blockchain networks — with sub-second finality.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81228" y="1600200"/>
            <a:ext cx="1828800" cy="2880360"/>
          </a:xfrm>
          <a:prstGeom prst="roundRect">
            <a:avLst>
              <a:gd name="adj" fmla="val 6000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44168" y="1965960"/>
            <a:ext cx="502920" cy="5029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2668" y="26517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Sub-Second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Finality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772668" y="33375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confirmed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under 1 second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665476" y="1600200"/>
            <a:ext cx="1828800" cy="2880360"/>
          </a:xfrm>
          <a:prstGeom prst="roundRect">
            <a:avLst>
              <a:gd name="adj" fmla="val 6000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8416" y="1965960"/>
            <a:ext cx="502920" cy="50292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756916" y="26517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Three-Chain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2756916" y="33375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X-Chain, P-Chain, C-Chain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specialized tasks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4649724" y="1600200"/>
            <a:ext cx="1828800" cy="2880360"/>
          </a:xfrm>
          <a:prstGeom prst="roundRect">
            <a:avLst>
              <a:gd name="adj" fmla="val 6000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12664" y="1965960"/>
            <a:ext cx="502920" cy="50292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741164" y="26517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Avalanche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Consensus</a:t>
            </a:r>
            <a:endParaRPr lang="en-US" sz="1500" dirty="0"/>
          </a:p>
        </p:txBody>
      </p:sp>
      <p:sp>
        <p:nvSpPr>
          <p:cNvPr id="17" name="Text 11"/>
          <p:cNvSpPr/>
          <p:nvPr/>
        </p:nvSpPr>
        <p:spPr>
          <a:xfrm>
            <a:off x="4741164" y="33375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 consensus combining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&amp; decentralization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6633972" y="1600200"/>
            <a:ext cx="1828800" cy="2880360"/>
          </a:xfrm>
          <a:prstGeom prst="roundRect">
            <a:avLst>
              <a:gd name="adj" fmla="val 6000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96912" y="1965960"/>
            <a:ext cx="502920" cy="50292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725412" y="265176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Subnet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1500" dirty="0"/>
          </a:p>
        </p:txBody>
      </p:sp>
      <p:sp>
        <p:nvSpPr>
          <p:cNvPr id="21" name="Text 14"/>
          <p:cNvSpPr/>
          <p:nvPr/>
        </p:nvSpPr>
        <p:spPr>
          <a:xfrm>
            <a:off x="6725412" y="333756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blockchain networks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own validators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"/>
          </a:xfrm>
          <a:prstGeom prst="rect">
            <a:avLst/>
          </a:prstGeom>
          <a:solidFill>
            <a:srgbClr val="E84142">
              <a:alpha val="60000"/>
            </a:srgbClr>
          </a:solidFill>
          <a:ln/>
        </p:spPr>
        <p:txBody>
          <a:bodyPr/>
          <a:lstStyle/>
          <a:p>
            <a:endParaRPr lang="en-T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64592"/>
            <a:ext cx="457200" cy="457200"/>
          </a:xfrm>
          <a:prstGeom prst="ellipse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2860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Avalanche Architecture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708660" y="1097280"/>
            <a:ext cx="2423160" cy="3017520"/>
          </a:xfrm>
          <a:prstGeom prst="roundRect">
            <a:avLst>
              <a:gd name="adj" fmla="val 4528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14500" y="1463040"/>
            <a:ext cx="411480" cy="411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45820" y="20116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X-Chain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845820" y="237744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Exchange Chain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845820" y="274320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creation and transfer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DAG-based, optimized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fast token swaps</a:t>
            </a:r>
            <a:endParaRPr lang="en-US" sz="11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50108" y="2286000"/>
            <a:ext cx="182880" cy="18288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360420" y="1097280"/>
            <a:ext cx="2423160" cy="3017520"/>
          </a:xfrm>
          <a:prstGeom prst="roundRect">
            <a:avLst>
              <a:gd name="adj" fmla="val 4528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66260" y="1463040"/>
            <a:ext cx="411480" cy="4114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3497580" y="20116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P-Chain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3497580" y="237744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Chain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3497580" y="274320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 coordination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subnet management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Staking &amp; governance</a:t>
            </a:r>
            <a:endParaRPr lang="en-US" sz="11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1868" y="2286000"/>
            <a:ext cx="182880" cy="18288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6012180" y="1097280"/>
            <a:ext cx="2423160" cy="3017520"/>
          </a:xfrm>
          <a:prstGeom prst="roundRect">
            <a:avLst>
              <a:gd name="adj" fmla="val 4528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8020" y="1463040"/>
            <a:ext cx="411480" cy="411480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6149340" y="20116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C-Chain</a:t>
            </a:r>
            <a:endParaRPr lang="en-US" sz="2000" dirty="0"/>
          </a:p>
        </p:txBody>
      </p:sp>
      <p:sp>
        <p:nvSpPr>
          <p:cNvPr id="23" name="Text 15"/>
          <p:cNvSpPr/>
          <p:nvPr/>
        </p:nvSpPr>
        <p:spPr>
          <a:xfrm>
            <a:off x="6149340" y="237744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Chain</a:t>
            </a:r>
            <a:endParaRPr lang="en-US" sz="1100" dirty="0"/>
          </a:p>
        </p:txBody>
      </p:sp>
      <p:sp>
        <p:nvSpPr>
          <p:cNvPr id="24" name="Text 16"/>
          <p:cNvSpPr/>
          <p:nvPr/>
        </p:nvSpPr>
        <p:spPr>
          <a:xfrm>
            <a:off x="6149340" y="274320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EVM-compatible smart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 — Solidity &amp;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 applications</a:t>
            </a:r>
            <a:endParaRPr lang="en-US" sz="1100" dirty="0"/>
          </a:p>
        </p:txBody>
      </p:sp>
      <p:sp>
        <p:nvSpPr>
          <p:cNvPr id="25" name="Shape 17"/>
          <p:cNvSpPr/>
          <p:nvPr/>
        </p:nvSpPr>
        <p:spPr>
          <a:xfrm>
            <a:off x="708660" y="4297680"/>
            <a:ext cx="7726680" cy="457200"/>
          </a:xfrm>
          <a:prstGeom prst="roundRect">
            <a:avLst>
              <a:gd name="adj" fmla="val 24000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6" name="Text 18"/>
          <p:cNvSpPr/>
          <p:nvPr/>
        </p:nvSpPr>
        <p:spPr>
          <a:xfrm>
            <a:off x="891540" y="4297680"/>
            <a:ext cx="7360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SBT </a:t>
            </a:r>
            <a:r>
              <a:rPr lang="en-US" sz="1150" dirty="0" err="1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stabletoken</a:t>
            </a:r>
            <a:r>
              <a:rPr lang="en-US" sz="11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deployed on the Avalanche Fuji - C-Chain </a:t>
            </a:r>
            <a:r>
              <a:rPr lang="en-US" sz="1150" dirty="0" err="1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Testnet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"/>
          </a:xfrm>
          <a:prstGeom prst="rect">
            <a:avLst/>
          </a:prstGeom>
          <a:solidFill>
            <a:srgbClr val="E84142">
              <a:alpha val="60000"/>
            </a:srgbClr>
          </a:solidFill>
          <a:ln/>
        </p:spPr>
        <p:txBody>
          <a:bodyPr/>
          <a:lstStyle/>
          <a:p>
            <a:endParaRPr lang="en-T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64592"/>
            <a:ext cx="457200" cy="457200"/>
          </a:xfrm>
          <a:prstGeom prst="ellipse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2860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</a:t>
            </a:r>
            <a:r>
              <a:rPr lang="en-US" sz="3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Stabletoken</a:t>
            </a: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731520" y="8686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cryptocurrency designed to maintain a stable value — typically pegged 1:1 to a fiat currency like USD.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379476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1691640"/>
            <a:ext cx="320040" cy="3200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1600" y="1691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Stabletokens Matter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9601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between volatile crypto and stable fiat value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960120" y="274320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DeFi lending, borrowing, and trading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960120" y="324612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a reliable unit of account on-chain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960120" y="37490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Facilitate cross-border payments instantly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709160" y="1463040"/>
            <a:ext cx="3794760" cy="3200400"/>
          </a:xfrm>
          <a:prstGeom prst="roundRect">
            <a:avLst>
              <a:gd name="adj" fmla="val 3429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1691640"/>
            <a:ext cx="320040" cy="3200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440680" y="1691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Properties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5029200" y="224028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Stability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5029200" y="244144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Pegged to $1 USD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5029200" y="274320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Collateralization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5029200" y="294436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real assets or crypto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5029200" y="32461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Redeemability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5029200" y="34472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be exchanged for underlying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5029200" y="3749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5029200" y="395020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On-chain verifiable reserves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"/>
          </a:xfrm>
          <a:prstGeom prst="rect">
            <a:avLst/>
          </a:prstGeom>
          <a:solidFill>
            <a:srgbClr val="E84142">
              <a:alpha val="60000"/>
            </a:srgbClr>
          </a:solidFill>
          <a:ln/>
        </p:spPr>
        <p:txBody>
          <a:bodyPr/>
          <a:lstStyle/>
          <a:p>
            <a:endParaRPr lang="en-T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64592"/>
            <a:ext cx="457200" cy="457200"/>
          </a:xfrm>
          <a:prstGeom prst="ellipse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828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Stabletoken</a:t>
            </a: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Properties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731520" y="713232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Patrick Collins classifies stablecoins along 3 dimensions — not simple buckets like "fiat-backed" or "algorithmic".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40080" y="1143000"/>
            <a:ext cx="7863840" cy="1115568"/>
          </a:xfrm>
          <a:prstGeom prst="roundRect">
            <a:avLst>
              <a:gd name="adj" fmla="val 9836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7" name="Shape 4"/>
          <p:cNvSpPr/>
          <p:nvPr/>
        </p:nvSpPr>
        <p:spPr>
          <a:xfrm>
            <a:off x="822960" y="1449324"/>
            <a:ext cx="502920" cy="502920"/>
          </a:xfrm>
          <a:prstGeom prst="ellipse">
            <a:avLst/>
          </a:prstGeom>
          <a:solidFill>
            <a:srgbClr val="E84142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8" name="Text 5"/>
          <p:cNvSpPr/>
          <p:nvPr/>
        </p:nvSpPr>
        <p:spPr>
          <a:xfrm>
            <a:off x="822960" y="14493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08760" y="128016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828800" y="125272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Stability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508760" y="160020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Pegged / Anchored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1508760" y="180136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tied to another asset (e.g. USD). Most common — USDC, DAI, USDT are all pegged to $1.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4800600" y="1554480"/>
            <a:ext cx="13716" cy="59436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14" name="Text 10"/>
          <p:cNvSpPr/>
          <p:nvPr/>
        </p:nvSpPr>
        <p:spPr>
          <a:xfrm>
            <a:off x="4617720" y="15544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5029200" y="160020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5029200" y="18013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anchor — algorithms keep buying power stable over time without being tied to any asset. Example: RAI.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640080" y="2404872"/>
            <a:ext cx="7863840" cy="1115568"/>
          </a:xfrm>
          <a:prstGeom prst="roundRect">
            <a:avLst>
              <a:gd name="adj" fmla="val 9836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8" name="Shape 14"/>
          <p:cNvSpPr/>
          <p:nvPr/>
        </p:nvSpPr>
        <p:spPr>
          <a:xfrm>
            <a:off x="822960" y="2711196"/>
            <a:ext cx="502920" cy="502920"/>
          </a:xfrm>
          <a:prstGeom prst="ellipse">
            <a:avLst/>
          </a:prstGeom>
          <a:solidFill>
            <a:srgbClr val="E84142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19" name="Text 15"/>
          <p:cNvSpPr/>
          <p:nvPr/>
        </p:nvSpPr>
        <p:spPr>
          <a:xfrm>
            <a:off x="822960" y="27111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08760" y="2542032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828800" y="2514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 Method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1508760" y="286207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1508760" y="30632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centralized entity or DAO decides when to mint/burn tokens. More control, but centralized. Examples: USDC, Tether.</a:t>
            </a:r>
            <a:endParaRPr lang="en-US" sz="950" dirty="0"/>
          </a:p>
        </p:txBody>
      </p:sp>
      <p:sp>
        <p:nvSpPr>
          <p:cNvPr id="24" name="Shape 19"/>
          <p:cNvSpPr/>
          <p:nvPr/>
        </p:nvSpPr>
        <p:spPr>
          <a:xfrm>
            <a:off x="4800600" y="2816352"/>
            <a:ext cx="13716" cy="59436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25" name="Text 20"/>
          <p:cNvSpPr/>
          <p:nvPr/>
        </p:nvSpPr>
        <p:spPr>
          <a:xfrm>
            <a:off x="4617720" y="281635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5029200" y="286207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Algorithmic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5029200" y="306324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code handles mint/burn with no human intervention. Permissionless and transparent. Examples: DAI, FRAX.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640080" y="3666744"/>
            <a:ext cx="7863840" cy="1115568"/>
          </a:xfrm>
          <a:prstGeom prst="roundRect">
            <a:avLst>
              <a:gd name="adj" fmla="val 9836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9" name="Shape 24"/>
          <p:cNvSpPr/>
          <p:nvPr/>
        </p:nvSpPr>
        <p:spPr>
          <a:xfrm>
            <a:off x="822960" y="3973068"/>
            <a:ext cx="502920" cy="502920"/>
          </a:xfrm>
          <a:prstGeom prst="ellipse">
            <a:avLst/>
          </a:prstGeom>
          <a:solidFill>
            <a:srgbClr val="E84142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0" name="Text 25"/>
          <p:cNvSpPr/>
          <p:nvPr/>
        </p:nvSpPr>
        <p:spPr>
          <a:xfrm>
            <a:off x="822960" y="39730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08760" y="3803904"/>
            <a:ext cx="274320" cy="27432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1828800" y="37764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 Type</a:t>
            </a:r>
            <a:endParaRPr lang="en-US" sz="1500" dirty="0"/>
          </a:p>
        </p:txBody>
      </p:sp>
      <p:sp>
        <p:nvSpPr>
          <p:cNvPr id="33" name="Text 27"/>
          <p:cNvSpPr/>
          <p:nvPr/>
        </p:nvSpPr>
        <p:spPr>
          <a:xfrm>
            <a:off x="1508760" y="412394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Exogenous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1508760" y="43251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 originates outside the protocol. If stablecoin fails, collateral survives. Examples: ETH backing DAI, USD backing USDC.</a:t>
            </a:r>
            <a:endParaRPr lang="en-US" sz="950" dirty="0"/>
          </a:p>
        </p:txBody>
      </p:sp>
      <p:sp>
        <p:nvSpPr>
          <p:cNvPr id="35" name="Shape 29"/>
          <p:cNvSpPr/>
          <p:nvPr/>
        </p:nvSpPr>
        <p:spPr>
          <a:xfrm>
            <a:off x="4800600" y="4078224"/>
            <a:ext cx="13716" cy="59436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6" name="Text 30"/>
          <p:cNvSpPr/>
          <p:nvPr/>
        </p:nvSpPr>
        <p:spPr>
          <a:xfrm>
            <a:off x="4617720" y="407822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900" dirty="0"/>
          </a:p>
        </p:txBody>
      </p:sp>
      <p:sp>
        <p:nvSpPr>
          <p:cNvPr id="37" name="Text 31"/>
          <p:cNvSpPr/>
          <p:nvPr/>
        </p:nvSpPr>
        <p:spPr>
          <a:xfrm>
            <a:off x="5029200" y="4123944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Endogenous</a:t>
            </a:r>
            <a:endParaRPr lang="en-US" sz="1150" dirty="0"/>
          </a:p>
        </p:txBody>
      </p:sp>
      <p:sp>
        <p:nvSpPr>
          <p:cNvPr id="38" name="Text 32"/>
          <p:cNvSpPr/>
          <p:nvPr/>
        </p:nvSpPr>
        <p:spPr>
          <a:xfrm>
            <a:off x="5029200" y="432511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 originates within the protocol. If stablecoin fails, collateral fails too. Example: UST/LUNA — $40B wiped out.</a:t>
            </a:r>
            <a:endParaRPr lang="en-US" sz="950" dirty="0"/>
          </a:p>
        </p:txBody>
      </p:sp>
      <p:sp>
        <p:nvSpPr>
          <p:cNvPr id="39" name="Text 33"/>
          <p:cNvSpPr/>
          <p:nvPr/>
        </p:nvSpPr>
        <p:spPr>
          <a:xfrm>
            <a:off x="731520" y="480060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Patrick Collins — Cyfrin Updraft, Lesson 12  |  github.com/Cyfrin/foundry-defi-stablecoin-cu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"/>
          </a:xfrm>
          <a:prstGeom prst="rect">
            <a:avLst/>
          </a:prstGeom>
          <a:solidFill>
            <a:srgbClr val="E84142">
              <a:alpha val="60000"/>
            </a:srgbClr>
          </a:solidFill>
          <a:ln/>
        </p:spPr>
        <p:txBody>
          <a:bodyPr/>
          <a:lstStyle/>
          <a:p>
            <a:endParaRPr lang="en-T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64592"/>
            <a:ext cx="457200" cy="457200"/>
          </a:xfrm>
          <a:prstGeom prst="ellipse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828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Classifying Top Stabletokens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457200" y="874256"/>
            <a:ext cx="8229600" cy="365760"/>
          </a:xfrm>
          <a:prstGeom prst="roundRect">
            <a:avLst>
              <a:gd name="adj" fmla="val 15000"/>
            </a:avLst>
          </a:prstGeom>
          <a:solidFill>
            <a:srgbClr val="E84142">
              <a:alpha val="75000"/>
            </a:srgbClr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7" name="Text 4"/>
          <p:cNvSpPr/>
          <p:nvPr/>
        </p:nvSpPr>
        <p:spPr>
          <a:xfrm>
            <a:off x="457200" y="87425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Stablecoin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645920" y="87425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108960" y="874256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0" y="87425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126480" y="87425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1240016"/>
            <a:ext cx="8229600" cy="42062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13" name="Text 10"/>
          <p:cNvSpPr/>
          <p:nvPr/>
        </p:nvSpPr>
        <p:spPr>
          <a:xfrm>
            <a:off x="457200" y="124001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1645920" y="124001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Pegged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3108960" y="124001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Algorithmic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4572000" y="124001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Exogenous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126480" y="1240016"/>
            <a:ext cx="2560320" cy="4206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Over-collateralized by ETH/BTC. MakerDAO.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57200" y="166064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USDC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1645920" y="166064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Pegged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108960" y="166064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572000" y="166064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Exogenous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6126480" y="1660640"/>
            <a:ext cx="2560320" cy="4206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real USD. Circle issues and controls.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57200" y="2081264"/>
            <a:ext cx="8229600" cy="42062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24" name="Text 21"/>
          <p:cNvSpPr/>
          <p:nvPr/>
        </p:nvSpPr>
        <p:spPr>
          <a:xfrm>
            <a:off x="457200" y="2081264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USDT (Tether)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1645920" y="208126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Pegged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3108960" y="208126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4572000" y="208126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Exogenous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126480" y="2081264"/>
            <a:ext cx="2560320" cy="4206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stablecoin. Centralized issuance.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457200" y="2501888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UST (Terra)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1645920" y="250188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Pegged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3108960" y="250188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Algorithmic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4572000" y="250188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Endogenous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6126480" y="2501888"/>
            <a:ext cx="2560320" cy="4206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— $40B collapse. LUNA collateral died.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57200" y="2922512"/>
            <a:ext cx="8229600" cy="42062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35" name="Text 32"/>
          <p:cNvSpPr/>
          <p:nvPr/>
        </p:nvSpPr>
        <p:spPr>
          <a:xfrm>
            <a:off x="457200" y="292251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FRAX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1645920" y="292251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Pegged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3108960" y="292251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Algorithmic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4572000" y="292251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DE6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6126480" y="2922512"/>
            <a:ext cx="2560320" cy="4206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— part exogenous, part endogenous.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457200" y="334313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1645920" y="334313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3108960" y="334313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Algorithmic</a:t>
            </a:r>
            <a:endParaRPr lang="en-US" sz="1050" dirty="0"/>
          </a:p>
        </p:txBody>
      </p:sp>
      <p:sp>
        <p:nvSpPr>
          <p:cNvPr id="43" name="Text 40"/>
          <p:cNvSpPr/>
          <p:nvPr/>
        </p:nvSpPr>
        <p:spPr>
          <a:xfrm>
            <a:off x="4572000" y="334313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Exogenous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6126480" y="3343136"/>
            <a:ext cx="2560320" cy="4206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peg. ETH-backed, stable buying power.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457200" y="3763760"/>
            <a:ext cx="8229600" cy="420624"/>
          </a:xfrm>
          <a:prstGeom prst="rect">
            <a:avLst/>
          </a:prstGeom>
          <a:solidFill>
            <a:srgbClr val="E84142">
              <a:alpha val="15000"/>
            </a:srgbClr>
          </a:solidFill>
          <a:ln w="8890">
            <a:solidFill>
              <a:srgbClr val="E84142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46" name="Text 43"/>
          <p:cNvSpPr/>
          <p:nvPr/>
        </p:nvSpPr>
        <p:spPr>
          <a:xfrm>
            <a:off x="457200" y="376376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25F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Our SBT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1645920" y="376376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Pegged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3108960" y="376376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Algorithmic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4572000" y="376376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Exogenous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6126480" y="3763760"/>
            <a:ext cx="2560320" cy="420624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WAVAX collateral. 200% ratio. Chainlink oracle.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457200" y="4257536"/>
            <a:ext cx="8229600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52" name="Text 49"/>
          <p:cNvSpPr/>
          <p:nvPr/>
        </p:nvSpPr>
        <p:spPr>
          <a:xfrm>
            <a:off x="640080" y="425753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</a:t>
            </a: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Endogenous collateral is the real risk — not "algorithmic" stability. UST failed because LUNA (its collateral) died with it.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"/>
          </a:xfrm>
          <a:prstGeom prst="rect">
            <a:avLst/>
          </a:prstGeom>
          <a:solidFill>
            <a:srgbClr val="E84142">
              <a:alpha val="60000"/>
            </a:srgbClr>
          </a:solidFill>
          <a:ln/>
        </p:spPr>
        <p:txBody>
          <a:bodyPr/>
          <a:lstStyle/>
          <a:p>
            <a:endParaRPr lang="en-T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64592"/>
            <a:ext cx="457200" cy="457200"/>
          </a:xfrm>
          <a:prstGeom prst="ellipse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828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SBT </a:t>
            </a:r>
            <a:r>
              <a:rPr lang="en-US" sz="3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Stabletoken</a:t>
            </a: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Architecture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731520" y="7315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crypto-collateralized stablecoin on Avalanche C-Chain — deposit WAVAX, mint SBT at 200% collateralization.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0080" y="128016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1508760"/>
            <a:ext cx="347472" cy="3474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25880" y="14813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Stabletoken (SBT)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868680" y="19659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ERC-20 token with controlled supply. Only the engine contract can mint and burn. Extends OpenZeppelin ERC20Burnable &amp; Ownable.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754880" y="128016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1508760"/>
            <a:ext cx="347472" cy="3474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440680" y="14813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StabletokenEngine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4983480" y="19659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controller managing deposits, withdrawals, minting, burning, and liquidations. Enforces 200% collateralization ratio.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640080" y="301752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3246120"/>
            <a:ext cx="347472" cy="34747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325880" y="32186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Chainlink Oracle</a:t>
            </a:r>
            <a:endParaRPr lang="en-US" sz="1500" dirty="0"/>
          </a:p>
        </p:txBody>
      </p:sp>
      <p:sp>
        <p:nvSpPr>
          <p:cNvPr id="17" name="Text 11"/>
          <p:cNvSpPr/>
          <p:nvPr/>
        </p:nvSpPr>
        <p:spPr>
          <a:xfrm>
            <a:off x="868680" y="37033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AVAX/USD price feed with 3-hour staleness check. Ensures accurate collateral valuation at all times.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4754880" y="301752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83480" y="3246120"/>
            <a:ext cx="347472" cy="34747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5440680" y="32186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Liquidation System</a:t>
            </a:r>
            <a:endParaRPr lang="en-US" sz="1500" dirty="0"/>
          </a:p>
        </p:txBody>
      </p:sp>
      <p:sp>
        <p:nvSpPr>
          <p:cNvPr id="21" name="Text 14"/>
          <p:cNvSpPr/>
          <p:nvPr/>
        </p:nvSpPr>
        <p:spPr>
          <a:xfrm>
            <a:off x="4983480" y="37033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health factor drops below 1.0, anyone can pay off debt and claim collateral. Keeps the protocol solvent.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"/>
          </a:xfrm>
          <a:prstGeom prst="rect">
            <a:avLst/>
          </a:prstGeom>
          <a:solidFill>
            <a:srgbClr val="E84142">
              <a:alpha val="60000"/>
            </a:srgbClr>
          </a:solidFill>
          <a:ln/>
        </p:spPr>
        <p:txBody>
          <a:bodyPr/>
          <a:lstStyle/>
          <a:p>
            <a:endParaRPr lang="en-T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64592"/>
            <a:ext cx="457200" cy="457200"/>
          </a:xfrm>
          <a:prstGeom prst="ellipse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SBT Works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731520" y="1005840"/>
            <a:ext cx="1463040" cy="2377440"/>
          </a:xfrm>
          <a:prstGeom prst="roundRect">
            <a:avLst>
              <a:gd name="adj" fmla="val 7500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6" name="Text 3"/>
          <p:cNvSpPr/>
          <p:nvPr/>
        </p:nvSpPr>
        <p:spPr>
          <a:xfrm>
            <a:off x="822960" y="11887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71016" y="1737360"/>
            <a:ext cx="384048" cy="38404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2960" y="22860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04672" y="2651760"/>
            <a:ext cx="13167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deposits WAVAX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collateral to the engine</a:t>
            </a:r>
            <a:endParaRPr lang="en-US" sz="10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85416" y="1965960"/>
            <a:ext cx="146304" cy="14630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2286000" y="1005840"/>
            <a:ext cx="1463040" cy="2377440"/>
          </a:xfrm>
          <a:prstGeom prst="roundRect">
            <a:avLst>
              <a:gd name="adj" fmla="val 7500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2" name="Text 7"/>
          <p:cNvSpPr/>
          <p:nvPr/>
        </p:nvSpPr>
        <p:spPr>
          <a:xfrm>
            <a:off x="2377440" y="11887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25496" y="1737360"/>
            <a:ext cx="384048" cy="38404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2377440" y="22860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2359152" y="2651760"/>
            <a:ext cx="13167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 SBT up to 50%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collateral USD value</a:t>
            </a:r>
            <a:endParaRPr lang="en-US" sz="10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9896" y="1965960"/>
            <a:ext cx="146304" cy="146304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3840480" y="1005840"/>
            <a:ext cx="1463040" cy="2377440"/>
          </a:xfrm>
          <a:prstGeom prst="roundRect">
            <a:avLst>
              <a:gd name="adj" fmla="val 7500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18" name="Text 11"/>
          <p:cNvSpPr/>
          <p:nvPr/>
        </p:nvSpPr>
        <p:spPr>
          <a:xfrm>
            <a:off x="3931920" y="11887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79976" y="1737360"/>
            <a:ext cx="384048" cy="384048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3931920" y="22860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</a:t>
            </a:r>
            <a:endParaRPr lang="en-US" sz="1400" dirty="0"/>
          </a:p>
        </p:txBody>
      </p:sp>
      <p:sp>
        <p:nvSpPr>
          <p:cNvPr id="21" name="Text 13"/>
          <p:cNvSpPr/>
          <p:nvPr/>
        </p:nvSpPr>
        <p:spPr>
          <a:xfrm>
            <a:off x="3913632" y="2651760"/>
            <a:ext cx="13167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 SBT to reduce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and free collateral</a:t>
            </a:r>
            <a:endParaRPr lang="en-US" sz="1000" dirty="0"/>
          </a:p>
        </p:txBody>
      </p:sp>
      <p:pic>
        <p:nvPicPr>
          <p:cNvPr id="22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94376" y="1965960"/>
            <a:ext cx="146304" cy="146304"/>
          </a:xfrm>
          <a:prstGeom prst="rect">
            <a:avLst/>
          </a:prstGeom>
        </p:spPr>
      </p:pic>
      <p:sp>
        <p:nvSpPr>
          <p:cNvPr id="23" name="Shape 14"/>
          <p:cNvSpPr/>
          <p:nvPr/>
        </p:nvSpPr>
        <p:spPr>
          <a:xfrm>
            <a:off x="5394960" y="1005840"/>
            <a:ext cx="1463040" cy="2377440"/>
          </a:xfrm>
          <a:prstGeom prst="roundRect">
            <a:avLst>
              <a:gd name="adj" fmla="val 7500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24" name="Text 15"/>
          <p:cNvSpPr/>
          <p:nvPr/>
        </p:nvSpPr>
        <p:spPr>
          <a:xfrm>
            <a:off x="5486400" y="11887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400" dirty="0"/>
          </a:p>
        </p:txBody>
      </p:sp>
      <p:pic>
        <p:nvPicPr>
          <p:cNvPr id="25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34456" y="1737360"/>
            <a:ext cx="384048" cy="384048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5486400" y="22860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Withdraw</a:t>
            </a:r>
            <a:endParaRPr lang="en-US" sz="1400" dirty="0"/>
          </a:p>
        </p:txBody>
      </p:sp>
      <p:sp>
        <p:nvSpPr>
          <p:cNvPr id="27" name="Text 17"/>
          <p:cNvSpPr/>
          <p:nvPr/>
        </p:nvSpPr>
        <p:spPr>
          <a:xfrm>
            <a:off x="5468112" y="2651760"/>
            <a:ext cx="13167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Withdraw collateral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health factor stays safe</a:t>
            </a:r>
            <a:endParaRPr lang="en-US" sz="1000" dirty="0"/>
          </a:p>
        </p:txBody>
      </p:sp>
      <p:pic>
        <p:nvPicPr>
          <p:cNvPr id="28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8856" y="1965960"/>
            <a:ext cx="146304" cy="146304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6949440" y="1005840"/>
            <a:ext cx="1463040" cy="2377440"/>
          </a:xfrm>
          <a:prstGeom prst="roundRect">
            <a:avLst>
              <a:gd name="adj" fmla="val 7500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30" name="Text 19"/>
          <p:cNvSpPr/>
          <p:nvPr/>
        </p:nvSpPr>
        <p:spPr>
          <a:xfrm>
            <a:off x="7040880" y="118872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400" dirty="0"/>
          </a:p>
        </p:txBody>
      </p:sp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88936" y="1737360"/>
            <a:ext cx="384048" cy="384048"/>
          </a:xfrm>
          <a:prstGeom prst="rect">
            <a:avLst/>
          </a:prstGeom>
        </p:spPr>
      </p:pic>
      <p:sp>
        <p:nvSpPr>
          <p:cNvPr id="32" name="Text 20"/>
          <p:cNvSpPr/>
          <p:nvPr/>
        </p:nvSpPr>
        <p:spPr>
          <a:xfrm>
            <a:off x="7040880" y="22860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Liquidate</a:t>
            </a:r>
            <a:endParaRPr lang="en-US" sz="1400" dirty="0"/>
          </a:p>
        </p:txBody>
      </p:sp>
      <p:sp>
        <p:nvSpPr>
          <p:cNvPr id="33" name="Text 21"/>
          <p:cNvSpPr/>
          <p:nvPr/>
        </p:nvSpPr>
        <p:spPr>
          <a:xfrm>
            <a:off x="7022592" y="2651760"/>
            <a:ext cx="13167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can liquidate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undercollateralized positions</a:t>
            </a:r>
            <a:endParaRPr lang="en-US" sz="1000" dirty="0"/>
          </a:p>
        </p:txBody>
      </p:sp>
      <p:sp>
        <p:nvSpPr>
          <p:cNvPr id="34" name="Shape 22"/>
          <p:cNvSpPr/>
          <p:nvPr/>
        </p:nvSpPr>
        <p:spPr>
          <a:xfrm>
            <a:off x="731520" y="4297680"/>
            <a:ext cx="7680960" cy="502920"/>
          </a:xfrm>
          <a:prstGeom prst="roundRect">
            <a:avLst>
              <a:gd name="adj" fmla="val 21818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TR"/>
          </a:p>
        </p:txBody>
      </p:sp>
      <p:sp>
        <p:nvSpPr>
          <p:cNvPr id="35" name="Text 23"/>
          <p:cNvSpPr/>
          <p:nvPr/>
        </p:nvSpPr>
        <p:spPr>
          <a:xfrm>
            <a:off x="868680" y="429768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200% Collateralization</a:t>
            </a: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Health Factor = (collateralUSD × 50%) / mintedSBT ≥ 1.0  —  </a:t>
            </a:r>
            <a:r>
              <a:rPr lang="en-US" sz="1050" b="1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Oracle: Chainlink AVAX/USD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"/>
          </a:xfrm>
          <a:prstGeom prst="rect">
            <a:avLst/>
          </a:prstGeom>
          <a:solidFill>
            <a:srgbClr val="E84142">
              <a:alpha val="60000"/>
            </a:srgbClr>
          </a:solidFill>
          <a:ln/>
        </p:spPr>
        <p:txBody>
          <a:bodyPr/>
          <a:lstStyle/>
          <a:p>
            <a:endParaRPr lang="en-T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164592"/>
            <a:ext cx="457200" cy="457200"/>
          </a:xfrm>
          <a:prstGeom prst="ellipse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2860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Contract Overview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640080" y="960120"/>
            <a:ext cx="7863840" cy="365760"/>
          </a:xfrm>
          <a:prstGeom prst="roundRect">
            <a:avLst>
              <a:gd name="adj" fmla="val 15000"/>
            </a:avLst>
          </a:prstGeom>
          <a:solidFill>
            <a:srgbClr val="E84142">
              <a:alpha val="75000"/>
            </a:srgbClr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6" name="Text 3"/>
          <p:cNvSpPr/>
          <p:nvPr/>
        </p:nvSpPr>
        <p:spPr>
          <a:xfrm>
            <a:off x="640080" y="960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3017520" y="960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663440" y="960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" y="1325880"/>
            <a:ext cx="7863840" cy="475488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10" name="Text 7"/>
          <p:cNvSpPr/>
          <p:nvPr/>
        </p:nvSpPr>
        <p:spPr>
          <a:xfrm>
            <a:off x="777240" y="132588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5F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Stabletoken.sol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3017520" y="132588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ERC-20 Token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754880" y="132588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ERC20Burnable + Ownable. Only owner can mint/burn.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77240" y="180136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5F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StabletokenEngine.sol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017520" y="180136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Engine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754880" y="1801368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Deposits, minting, burning, withdrawals, liquidations. ReentrancyGuard.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2276856"/>
            <a:ext cx="7863840" cy="475488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17" name="Text 14"/>
          <p:cNvSpPr/>
          <p:nvPr/>
        </p:nvSpPr>
        <p:spPr>
          <a:xfrm>
            <a:off x="777240" y="2276856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5F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Oracle.sol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017520" y="2276856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Library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754880" y="2276856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Chainlink AggregatorV3Interface with 3-hour staleness check.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77240" y="2752344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25F5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Deploy.s.sol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017520" y="2752344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754880" y="2752344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 both contracts, transfers SBT ownership to engine.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731520" y="3474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 &amp; Dependencies</a:t>
            </a:r>
            <a:endParaRPr lang="en-US" sz="1600" dirty="0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05072"/>
            <a:ext cx="182880" cy="18288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1005840" y="39776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Framework:  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2103120" y="39776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(Forge)</a:t>
            </a:r>
            <a:endParaRPr lang="en-US" sz="1100" dirty="0"/>
          </a:p>
        </p:txBody>
      </p:sp>
      <p:pic>
        <p:nvPicPr>
          <p:cNvPr id="2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4005072"/>
            <a:ext cx="182880" cy="18288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5120640" y="39776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Language:  </a:t>
            </a:r>
            <a:endParaRPr lang="en-US" sz="1100" dirty="0"/>
          </a:p>
        </p:txBody>
      </p:sp>
      <p:sp>
        <p:nvSpPr>
          <p:cNvPr id="29" name="Text 24"/>
          <p:cNvSpPr/>
          <p:nvPr/>
        </p:nvSpPr>
        <p:spPr>
          <a:xfrm>
            <a:off x="6217920" y="39776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Solidity ^0.8.29</a:t>
            </a:r>
            <a:endParaRPr lang="en-US" sz="1100" dirty="0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370832"/>
            <a:ext cx="182880" cy="18288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1005840" y="43434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Libraries:  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2103120" y="43434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OpenZeppelin, Chainlink</a:t>
            </a:r>
            <a:endParaRPr lang="en-US" sz="1100" dirty="0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4370832"/>
            <a:ext cx="182880" cy="18288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5120640" y="43434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Network:  </a:t>
            </a:r>
            <a:endParaRPr lang="en-US" sz="1100" dirty="0"/>
          </a:p>
        </p:txBody>
      </p:sp>
      <p:sp>
        <p:nvSpPr>
          <p:cNvPr id="35" name="Text 28"/>
          <p:cNvSpPr/>
          <p:nvPr/>
        </p:nvSpPr>
        <p:spPr>
          <a:xfrm>
            <a:off x="6217920" y="43434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0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Avalanche Fuji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7432"/>
          </a:xfrm>
          <a:prstGeom prst="rect">
            <a:avLst/>
          </a:prstGeom>
          <a:solidFill>
            <a:srgbClr val="E84142"/>
          </a:solidFill>
          <a:ln/>
        </p:spPr>
        <p:txBody>
          <a:bodyPr/>
          <a:lstStyle/>
          <a:p>
            <a:endParaRPr lang="en-T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457200"/>
            <a:ext cx="1645920" cy="1645920"/>
          </a:xfrm>
          <a:prstGeom prst="ellipse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21945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4800" dirty="0"/>
          </a:p>
        </p:txBody>
      </p:sp>
      <p:sp>
        <p:nvSpPr>
          <p:cNvPr id="5" name="Shape 2"/>
          <p:cNvSpPr/>
          <p:nvPr/>
        </p:nvSpPr>
        <p:spPr>
          <a:xfrm>
            <a:off x="3886200" y="3154680"/>
            <a:ext cx="1371600" cy="27432"/>
          </a:xfrm>
          <a:prstGeom prst="rect">
            <a:avLst/>
          </a:prstGeom>
          <a:solidFill>
            <a:srgbClr val="E84142"/>
          </a:solidFill>
          <a:ln/>
        </p:spPr>
        <p:txBody>
          <a:bodyPr/>
          <a:lstStyle/>
          <a:p>
            <a:endParaRPr lang="en-TR"/>
          </a:p>
        </p:txBody>
      </p:sp>
      <p:sp>
        <p:nvSpPr>
          <p:cNvPr id="6" name="Text 3"/>
          <p:cNvSpPr/>
          <p:nvPr/>
        </p:nvSpPr>
        <p:spPr>
          <a:xfrm>
            <a:off x="1371600" y="32918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2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discuss!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371600" y="41148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github.com/ulas96/team-1-defi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1571</TotalTime>
  <Words>822</Words>
  <Application>Microsoft Macintosh PowerPoint</Application>
  <PresentationFormat>On-screen Show (16:9)</PresentationFormat>
  <Paragraphs>189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Stablecoins on Avalanche</dc:title>
  <dc:subject>PptxGenJS Presentation</dc:subject>
  <dc:creator>Ulaş</dc:creator>
  <cp:lastModifiedBy>316316</cp:lastModifiedBy>
  <cp:revision>19</cp:revision>
  <dcterms:created xsi:type="dcterms:W3CDTF">2026-04-05T06:50:08Z</dcterms:created>
  <dcterms:modified xsi:type="dcterms:W3CDTF">2026-04-10T12:04:40Z</dcterms:modified>
</cp:coreProperties>
</file>