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72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2.jpe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414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51560"/>
            <a:ext cx="2194560" cy="219456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00584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Coding AVAX Backed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Stabletoken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822960" y="3200400"/>
            <a:ext cx="2286000" cy="32004"/>
          </a:xfrm>
          <a:prstGeom prst="rect">
            <a:avLst/>
          </a:prstGeom>
          <a:solidFill>
            <a:srgbClr val="E84142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7" name="Text 4"/>
          <p:cNvSpPr/>
          <p:nvPr/>
        </p:nvSpPr>
        <p:spPr>
          <a:xfrm>
            <a:off x="874999" y="3596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E84142">
              <a:alpha val="6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6459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Avalanche?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868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high-performance, scalable blockchain platform for decentralized applications and custom blockchain networks — with sub-second finality.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1228" y="1600200"/>
            <a:ext cx="1828800" cy="288036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168" y="196596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" y="2651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Finality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2668" y="3337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confirmed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1 second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65476" y="1600200"/>
            <a:ext cx="1828800" cy="288036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416" y="196596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56916" y="2651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Three-Chain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2756916" y="3337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X-Chain, P-Chain, C-Chain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specialized tasks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649724" y="1600200"/>
            <a:ext cx="1828800" cy="288036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196596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41164" y="2651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4741164" y="3337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consensus combining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decentralization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633972" y="1600200"/>
            <a:ext cx="1828800" cy="288036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6912" y="196596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25412" y="2651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6725412" y="3337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blockchain networks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own validators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E84142">
              <a:alpha val="6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6459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Architecture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08660" y="1097280"/>
            <a:ext cx="2423160" cy="3017520"/>
          </a:xfrm>
          <a:prstGeom prst="roundRect">
            <a:avLst>
              <a:gd name="adj" fmla="val 4528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14630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20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X-Chain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45820" y="23774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Chain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45820" y="2743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creation and transfer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DAG-based, optimized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fast token swaps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0108" y="2286000"/>
            <a:ext cx="182880" cy="1828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360420" y="1097280"/>
            <a:ext cx="2423160" cy="3017520"/>
          </a:xfrm>
          <a:prstGeom prst="roundRect">
            <a:avLst>
              <a:gd name="adj" fmla="val 4528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6260" y="146304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97580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P-Chain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3497580" y="23774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Chain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3497580" y="2743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coordination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subnet management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&amp; governance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868" y="2286000"/>
            <a:ext cx="182880" cy="18288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012180" y="1097280"/>
            <a:ext cx="2423160" cy="3017520"/>
          </a:xfrm>
          <a:prstGeom prst="roundRect">
            <a:avLst>
              <a:gd name="adj" fmla="val 4528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146304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49340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C-Chain</a:t>
            </a:r>
            <a:endParaRPr lang="en-US" sz="2000" dirty="0"/>
          </a:p>
        </p:txBody>
      </p:sp>
      <p:sp>
        <p:nvSpPr>
          <p:cNvPr id="23" name="Text 15"/>
          <p:cNvSpPr/>
          <p:nvPr/>
        </p:nvSpPr>
        <p:spPr>
          <a:xfrm>
            <a:off x="6149340" y="23774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Chain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149340" y="2743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EVM-compatible smart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— Solidity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applications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708660" y="4297680"/>
            <a:ext cx="772668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18"/>
          <p:cNvSpPr/>
          <p:nvPr/>
        </p:nvSpPr>
        <p:spPr>
          <a:xfrm>
            <a:off x="891540" y="429768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SBT stablecoin is deployed on the Avalanche Fuji - C-Chain </a:t>
            </a:r>
            <a:r>
              <a:rPr lang="en-US" sz="1150" dirty="0" err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E84142">
              <a:alpha val="6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6459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</a:t>
            </a:r>
            <a:r>
              <a:rPr lang="en-US" sz="3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Stabletoken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868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cryptocurrency designed to maintain a stable value — typically pegged 1:1 to a fiat currency like USD.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3794760" cy="3200400"/>
          </a:xfrm>
          <a:prstGeom prst="roundRect">
            <a:avLst>
              <a:gd name="adj" fmla="val 3429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6916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Stabletokens Matter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601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between volatile crypto and stable fiat value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60120" y="2743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DeFi lending, borrowing, and trading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96012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reliable unit of account on-chain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60120" y="3749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cross-border payments instantly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09160" y="1463040"/>
            <a:ext cx="3794760" cy="3200400"/>
          </a:xfrm>
          <a:prstGeom prst="roundRect">
            <a:avLst>
              <a:gd name="adj" fmla="val 3429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6916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029200" y="2240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Stability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0" y="2441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Pegged to $1 USD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02920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Collateralization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0" y="2944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real assets or crypto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029200" y="3246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Redeemability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29200" y="34472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exchanged for underlying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02920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029200" y="3950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verifiable reserves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E84142">
              <a:alpha val="6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6459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Stabletoken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Properties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713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Collins classifies stablecoins along 3 dimensions — not simple buckets like "fiat-backed" or "algorithmic".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7863840" cy="1115568"/>
          </a:xfrm>
          <a:prstGeom prst="roundRect">
            <a:avLst>
              <a:gd name="adj" fmla="val 983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Shape 4"/>
          <p:cNvSpPr/>
          <p:nvPr/>
        </p:nvSpPr>
        <p:spPr>
          <a:xfrm>
            <a:off x="822960" y="1449324"/>
            <a:ext cx="502920" cy="502920"/>
          </a:xfrm>
          <a:prstGeom prst="ellipse">
            <a:avLst/>
          </a:prstGeom>
          <a:solidFill>
            <a:srgbClr val="E84142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Text 5"/>
          <p:cNvSpPr/>
          <p:nvPr/>
        </p:nvSpPr>
        <p:spPr>
          <a:xfrm>
            <a:off x="822960" y="1449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12801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1252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Stability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0876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Pegged / Anchored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508760" y="1801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tied to another asset (e.g. USD). Most common — USDC, DAI, USDT are all pegged to $1.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800600" y="1554480"/>
            <a:ext cx="13716" cy="59436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Text 10"/>
          <p:cNvSpPr/>
          <p:nvPr/>
        </p:nvSpPr>
        <p:spPr>
          <a:xfrm>
            <a:off x="461772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0" y="1801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anchor — algorithms keep buying power stable over time without being tied to any asset. Example: RAI.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40080" y="2404872"/>
            <a:ext cx="7863840" cy="1115568"/>
          </a:xfrm>
          <a:prstGeom prst="roundRect">
            <a:avLst>
              <a:gd name="adj" fmla="val 983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hape 14"/>
          <p:cNvSpPr/>
          <p:nvPr/>
        </p:nvSpPr>
        <p:spPr>
          <a:xfrm>
            <a:off x="822960" y="2711196"/>
            <a:ext cx="502920" cy="502920"/>
          </a:xfrm>
          <a:prstGeom prst="ellipse">
            <a:avLst/>
          </a:prstGeom>
          <a:solidFill>
            <a:srgbClr val="E84142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9" name="Text 15"/>
          <p:cNvSpPr/>
          <p:nvPr/>
        </p:nvSpPr>
        <p:spPr>
          <a:xfrm>
            <a:off x="822960" y="27111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254203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Method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508760" y="2862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50876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entity or DAO decides when to mint/burn tokens. More control, but centralized. Examples: USDC, Tether.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800600" y="2816352"/>
            <a:ext cx="13716" cy="59436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5" name="Text 20"/>
          <p:cNvSpPr/>
          <p:nvPr/>
        </p:nvSpPr>
        <p:spPr>
          <a:xfrm>
            <a:off x="4617720" y="28163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029200" y="2862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02920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handles mint/burn with no human intervention. Permissionless and transparent. Examples: DAI, FRAX.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40080" y="3666744"/>
            <a:ext cx="7863840" cy="1115568"/>
          </a:xfrm>
          <a:prstGeom prst="roundRect">
            <a:avLst>
              <a:gd name="adj" fmla="val 983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Shape 24"/>
          <p:cNvSpPr/>
          <p:nvPr/>
        </p:nvSpPr>
        <p:spPr>
          <a:xfrm>
            <a:off x="822960" y="3973068"/>
            <a:ext cx="502920" cy="502920"/>
          </a:xfrm>
          <a:prstGeom prst="ellipse">
            <a:avLst/>
          </a:prstGeom>
          <a:solidFill>
            <a:srgbClr val="E84142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0" name="Text 25"/>
          <p:cNvSpPr/>
          <p:nvPr/>
        </p:nvSpPr>
        <p:spPr>
          <a:xfrm>
            <a:off x="822960" y="39730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760" y="3803904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828800" y="3776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Type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1508760" y="41239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1508760" y="43251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originates outside the protocol. If stablecoin fails, collateral survives. Examples: ETH backing DAI, USD backing USDC.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00600" y="4078224"/>
            <a:ext cx="13716" cy="59436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6" name="Text 30"/>
          <p:cNvSpPr/>
          <p:nvPr/>
        </p:nvSpPr>
        <p:spPr>
          <a:xfrm>
            <a:off x="4617720" y="4078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5029200" y="41239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5029200" y="4325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originates within the protocol. If stablecoin fails, collateral fails too. Example: UST/LUNA — $40B wiped out.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731520" y="4800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Patrick Collins — Cyfrin Updraft, Lesson 12  |  github.com/Cyfrin/foundry-defi-stablecoin-cu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E84142">
              <a:alpha val="6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6459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Top Stabletokens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57200" y="874256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84142">
              <a:alpha val="75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7" name="Text 4"/>
          <p:cNvSpPr/>
          <p:nvPr/>
        </p:nvSpPr>
        <p:spPr>
          <a:xfrm>
            <a:off x="457200" y="8742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45920" y="8742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08960" y="8742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0" y="8742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8742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240016"/>
            <a:ext cx="8229600" cy="42062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/>
          <p:nvPr/>
        </p:nvSpPr>
        <p:spPr>
          <a:xfrm>
            <a:off x="457200" y="12400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645920" y="124001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Pegged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108960" y="124001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0" y="12400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126480" y="1240016"/>
            <a:ext cx="2560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Over-collateralized by ETH/BTC. MakerDAO.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16606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USDC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645920" y="16606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Pegged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108960" y="16606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0" y="16606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126480" y="1660640"/>
            <a:ext cx="2560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real USD. Circle issues and controls.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2081264"/>
            <a:ext cx="8229600" cy="42062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/>
          <p:nvPr/>
        </p:nvSpPr>
        <p:spPr>
          <a:xfrm>
            <a:off x="457200" y="208126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 (Tether)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645920" y="20812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Pegged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108960" y="20812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0" y="208126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26480" y="2081264"/>
            <a:ext cx="2560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stablecoin. Centralized issuance.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57200" y="25018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UST (Terra)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645920" y="25018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Pegged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108960" y="25018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0" y="25018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126480" y="2501888"/>
            <a:ext cx="2560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— $40B collapse. LUNA collateral died.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2922512"/>
            <a:ext cx="8229600" cy="42062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5" name="Text 32"/>
          <p:cNvSpPr/>
          <p:nvPr/>
        </p:nvSpPr>
        <p:spPr>
          <a:xfrm>
            <a:off x="457200" y="29225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FRAX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645920" y="29225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Pegged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108960" y="29225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572000" y="2922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126480" y="2922512"/>
            <a:ext cx="2560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— part exogenous, part endogenous.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57200" y="334313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645920" y="33431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3108960" y="33431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4572000" y="33431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126480" y="3343136"/>
            <a:ext cx="2560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peg. ETH-backed, stable buying power.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57200" y="3763760"/>
            <a:ext cx="8229600" cy="420624"/>
          </a:xfrm>
          <a:prstGeom prst="rect">
            <a:avLst/>
          </a:prstGeom>
          <a:solidFill>
            <a:srgbClr val="E84142">
              <a:alpha val="15000"/>
            </a:srgbClr>
          </a:solidFill>
          <a:ln w="8890">
            <a:solidFill>
              <a:srgbClr val="E8414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6" name="Text 43"/>
          <p:cNvSpPr/>
          <p:nvPr/>
        </p:nvSpPr>
        <p:spPr>
          <a:xfrm>
            <a:off x="457200" y="37637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5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SBT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1645920" y="37637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Pegged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3108960" y="37637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4572000" y="37637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126480" y="3763760"/>
            <a:ext cx="2560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WAVAX collateral. 200% ratio. Chainlink oracle.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457200" y="4257536"/>
            <a:ext cx="8229600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2" name="Text 49"/>
          <p:cNvSpPr/>
          <p:nvPr/>
        </p:nvSpPr>
        <p:spPr>
          <a:xfrm>
            <a:off x="640080" y="425753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collateral is the real risk — not "algorithmic" stability. UST failed because LUNA (its collateral) died with it.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E84142">
              <a:alpha val="6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6459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 </a:t>
            </a:r>
            <a:r>
              <a:rPr lang="en-US" sz="3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Stabletoken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Architecture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731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crypto-collateralized stablecoin on Avalanche C-Chain — deposit WAVAX, mint SBT at 200% collateralization.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50876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481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Stabletoken (SBT)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6868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token with controlled supply. Only the engine contract can mint and burn. Extends OpenZeppelin ERC20Burnable &amp; Ownable.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128016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50876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40680" y="1481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StabletokenEngine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98348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controller managing deposits, withdrawals, minting, burning, and liquidations. Enforces 200% collateralization ratio.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0080" y="301752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24612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Oracle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868680" y="3703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AVAX/USD price feed with 3-hour staleness check. Ensures accurate collateral valuation at all times.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754880" y="301752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246120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4068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 System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4983480" y="3703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health factor drops below 1.0, anyone can pay off debt and claim collateral. Keeps the protocol solvent.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E84142">
              <a:alpha val="6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6459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SBT Works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463040" cy="237744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016" y="17373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" y="265176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deposits WAVAX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to the engine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5416" y="1965960"/>
            <a:ext cx="146304" cy="14630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286000" y="1005840"/>
            <a:ext cx="1463040" cy="237744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7"/>
          <p:cNvSpPr/>
          <p:nvPr/>
        </p:nvSpPr>
        <p:spPr>
          <a:xfrm>
            <a:off x="237744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73736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3774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2359152" y="265176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SBT up to 50%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collateral USD value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1965960"/>
            <a:ext cx="146304" cy="14630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3840480" y="1005840"/>
            <a:ext cx="1463040" cy="237744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1"/>
          <p:cNvSpPr/>
          <p:nvPr/>
        </p:nvSpPr>
        <p:spPr>
          <a:xfrm>
            <a:off x="393192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9976" y="1737360"/>
            <a:ext cx="384048" cy="3840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93192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3913632" y="265176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SBT to reduce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and free collateral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376" y="1965960"/>
            <a:ext cx="146304" cy="146304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5394960" y="1005840"/>
            <a:ext cx="1463040" cy="237744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15"/>
          <p:cNvSpPr/>
          <p:nvPr/>
        </p:nvSpPr>
        <p:spPr>
          <a:xfrm>
            <a:off x="548640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4456" y="1737360"/>
            <a:ext cx="384048" cy="38404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48640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</a:t>
            </a:r>
            <a:endParaRPr lang="en-US" sz="1400" dirty="0"/>
          </a:p>
        </p:txBody>
      </p:sp>
      <p:sp>
        <p:nvSpPr>
          <p:cNvPr id="27" name="Text 17"/>
          <p:cNvSpPr/>
          <p:nvPr/>
        </p:nvSpPr>
        <p:spPr>
          <a:xfrm>
            <a:off x="5468112" y="265176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collateral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health factor stays safe</a:t>
            </a:r>
            <a:endParaRPr lang="en-US" sz="10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1965960"/>
            <a:ext cx="146304" cy="146304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949440" y="1005840"/>
            <a:ext cx="1463040" cy="237744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19"/>
          <p:cNvSpPr/>
          <p:nvPr/>
        </p:nvSpPr>
        <p:spPr>
          <a:xfrm>
            <a:off x="704088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8936" y="1737360"/>
            <a:ext cx="384048" cy="38404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04088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Liquidate</a:t>
            </a:r>
            <a:endParaRPr lang="en-US" sz="1400" dirty="0"/>
          </a:p>
        </p:txBody>
      </p:sp>
      <p:sp>
        <p:nvSpPr>
          <p:cNvPr id="33" name="Text 21"/>
          <p:cNvSpPr/>
          <p:nvPr/>
        </p:nvSpPr>
        <p:spPr>
          <a:xfrm>
            <a:off x="7022592" y="265176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liquidate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undercollateralized positions</a:t>
            </a:r>
            <a:endParaRPr lang="en-US" sz="1000" dirty="0"/>
          </a:p>
        </p:txBody>
      </p:sp>
      <p:sp>
        <p:nvSpPr>
          <p:cNvPr id="34" name="Shape 22"/>
          <p:cNvSpPr/>
          <p:nvPr/>
        </p:nvSpPr>
        <p:spPr>
          <a:xfrm>
            <a:off x="731520" y="4297680"/>
            <a:ext cx="7680960" cy="502920"/>
          </a:xfrm>
          <a:prstGeom prst="roundRect">
            <a:avLst>
              <a:gd name="adj" fmla="val 21818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5" name="Text 23"/>
          <p:cNvSpPr/>
          <p:nvPr/>
        </p:nvSpPr>
        <p:spPr>
          <a:xfrm>
            <a:off x="868680" y="42976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 Collateralization</a:t>
            </a: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Health Factor = (collateralUSD × 50%) / mintedSBT ≥ 1.0  —  </a:t>
            </a:r>
            <a:r>
              <a:rPr lang="en-US" sz="1050" b="1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Oracle: Chainlink AVAX/USD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E84142">
              <a:alpha val="60000"/>
            </a:srgbClr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64592"/>
            <a:ext cx="457200" cy="4572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Overview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960120"/>
            <a:ext cx="7863840" cy="365760"/>
          </a:xfrm>
          <a:prstGeom prst="roundRect">
            <a:avLst>
              <a:gd name="adj" fmla="val 15000"/>
            </a:avLst>
          </a:prstGeom>
          <a:solidFill>
            <a:srgbClr val="E84142">
              <a:alpha val="75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Text 3"/>
          <p:cNvSpPr/>
          <p:nvPr/>
        </p:nvSpPr>
        <p:spPr>
          <a:xfrm>
            <a:off x="64008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017520" y="960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6344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325880"/>
            <a:ext cx="7863840" cy="47548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0" name="Text 7"/>
          <p:cNvSpPr/>
          <p:nvPr/>
        </p:nvSpPr>
        <p:spPr>
          <a:xfrm>
            <a:off x="777240" y="13258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5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Stabletoken.sol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0" y="13258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Token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0" y="13258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ERC20Burnable + Ownable. Only owner can mint/burn.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7240" y="18013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5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StabletokenEngine.sol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17520" y="18013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0" y="18013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Deposits, minting, burning, withdrawals, liquidations. ReentrancyGuard.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2276856"/>
            <a:ext cx="7863840" cy="47548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7" name="Text 14"/>
          <p:cNvSpPr/>
          <p:nvPr/>
        </p:nvSpPr>
        <p:spPr>
          <a:xfrm>
            <a:off x="777240" y="22768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5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Oracle.sol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017520" y="22768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Library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54880" y="22768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Chainlink AggregatorV3Interface with 3-hour staleness check.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77240" y="27523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5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Deploy.s.sol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017520" y="275234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0" y="27523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both contracts, transfers SBT ownership to engine.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Dependencies</a:t>
            </a:r>
            <a:endParaRPr lang="en-US" sz="16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05072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0584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 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103120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(Forge)</a:t>
            </a:r>
            <a:endParaRPr lang="en-US" sz="11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005072"/>
            <a:ext cx="182880" cy="1828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2064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 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17920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^0.8.29</a:t>
            </a:r>
            <a:endParaRPr lang="en-US" sz="11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70832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05840" y="4343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 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103120" y="4343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OpenZeppelin, Chainlink</a:t>
            </a:r>
            <a:endParaRPr lang="en-US" sz="11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370832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20640" y="4343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 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217920" y="4343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Fuji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4142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57200"/>
            <a:ext cx="1645920" cy="164592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194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3886200" y="3154680"/>
            <a:ext cx="1371600" cy="27432"/>
          </a:xfrm>
          <a:prstGeom prst="rect">
            <a:avLst/>
          </a:prstGeom>
          <a:solidFill>
            <a:srgbClr val="E84142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Text 3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discuss!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github.com/ulas96/team-1-defi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822</Words>
  <Application>Microsoft Macintosh PowerPoint</Application>
  <PresentationFormat>On-screen Show (16:9)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Stablecoins on Avalanche</dc:title>
  <dc:subject>PptxGenJS Presentation</dc:subject>
  <dc:creator>Ulaş</dc:creator>
  <cp:lastModifiedBy>316316</cp:lastModifiedBy>
  <cp:revision>17</cp:revision>
  <dcterms:created xsi:type="dcterms:W3CDTF">2026-04-05T06:50:08Z</dcterms:created>
  <dcterms:modified xsi:type="dcterms:W3CDTF">2026-04-05T07:13:34Z</dcterms:modified>
</cp:coreProperties>
</file>